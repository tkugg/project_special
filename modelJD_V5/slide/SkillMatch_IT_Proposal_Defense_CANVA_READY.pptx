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4577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SENIOR PROJECT PROPOSAL DEFENSE  |  สาขาวิชาเทคโนโลยีสารสนเทศ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3400" b="1">
                <a:solidFill>
                  <a:srgbClr val="1E3A8A"/>
                </a:solidFill>
                <a:latin typeface="Prompt"/>
              </a:defRPr>
            </a:pPr>
            <a:r>
              <a:t>สกิลแมตช์ (SkillMatch)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  <a:latin typeface="Prompt"/>
              </a:defRPr>
            </a:pPr>
            <a:r>
              <a:t>ระบบแนะนำงานและวิเคราะห์ช่องว่างทักษะด้านเทคโนโลยีสารสนเทศด้วยการเรียนรู้ของเครื่อง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4748B"/>
                </a:solidFill>
                <a:latin typeface="Prompt"/>
              </a:defRPr>
            </a:pPr>
            <a:r>
              <a:t>SkillMatch: IT Job Recommendation and Skill Gap Analysis System Using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499811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1E3A8A"/>
                </a:solidFill>
                <a:latin typeface="Prompt"/>
              </a:defRPr>
            </a:pPr>
            <a:r>
              <a:t>คณะผู้จัดทำโครงงาน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นายธีรภัทธิ์ แก้วการไร่      รหัสประจำตัว 674230004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นายปรเมศ ไม้ประเสริฐ     รหัสประจำตัว 674230020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นักศึกษาชั้นปีที่ 3  หมู่เรียน 67/43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9710" y="3840480"/>
            <a:ext cx="499811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1E3A8A"/>
                </a:solidFill>
                <a:latin typeface="Prompt"/>
              </a:defRPr>
            </a:pPr>
            <a:r>
              <a:t>อาจารย์ที่ปรึกษาและหลักสูตร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2563EB"/>
                </a:solidFill>
                <a:latin typeface="Prompt"/>
              </a:defRPr>
            </a:pPr>
            <a:r>
              <a:t>อาจารย์ที่ปรึกษา: อาจารย์แก้วใจ อาภรณ์พิศาล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สาขาวิชาเทคโนโลยีสารสนเทศ คณะวิทยาศาสตร์และเทคโนโลยี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มหาวิทยาลัยราชภัฏนครปฐม  ภาคเรียนที่ 1 ปีการศึกษา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1.1 BACKGROUND &amp; PROBLEM STATEMENT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ความเป็นมาและความสำคัญของปัญหา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ความท้าทายในตลาดแรงงานไอทีและปัญหาของระบบแนะนำงานแบบดั้งเดิม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ความต้องการทักษะเฉพาะทางในยุคดิจิทัล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• การเติบโตของอุตสาหกรรมดิจิทัล (depa, 2566):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ตลาดต้องการบุคลากรที่มีสมรรถนะตรงสายงาน สถาบันการศึกษาจึงต้องมุ่งเน้นการผลิตบัณฑิตให้สอดคล้องกับกรอบมาตรฐานคุณวุฒิ มคอ.2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E11D48"/>
                </a:solidFill>
                <a:latin typeface="Prompt"/>
              </a:defRPr>
            </a:pPr>
            <a:r>
              <a:t>• ปัญหาความไม่สอดคล้องของทักษะ (Skill Mismatch):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ผู้เรียนไม่สามารถประเมินได้ชัดเจนว่าชุดทักษะที่ตนเองมี สอดคล้องกับกลุ่มอาชีพใดใน 8 ด้านตามมาตรฐานหลักสูตร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• ขาดข้อมูลเชิงลึกในการวางแผนพัฒนาตนเอง: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นักศึกษาขาดทิศทางในการเตรียมความพร้อมก่อนออกฝึกประสบการณ์วิชาชีพ สหกิจศึกษา และก้าวเข้าสู่ตลาดแรงงานจริง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ข้อจำกัดของระบบค้นหาตำแหน่งงานแบบดั้งเดิม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E11D48"/>
                </a:solidFill>
                <a:latin typeface="Prompt"/>
              </a:defRPr>
            </a:pPr>
            <a:r>
              <a:t>• ข้อความกึ่งโครงสร้างและไร้โครงสร้าง (Unstructured):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ประกาศงานไอทีมีความหลากหลายทางภาษาศาสตร์ มีคำพ้องความหมาย (Synonyms) และคำย่อ (Abbreviations) เป็นจำนวนมาก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E11D48"/>
                </a:solidFill>
                <a:latin typeface="Prompt"/>
              </a:defRPr>
            </a:pPr>
            <a:r>
              <a:t>• กับดักการค้นหาคำสำคัญตรงตัว (Lexical Mismatch):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ระบบดั้งเดิมพึ่งพาการจับคู่คำสำคัญตรงตัว ขาดความยืดหยุ่นในการเข้าใจบริบททางภาษา จึงคลาดเคลื่อนและตัดโอกาสผู้หางาน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E11D48"/>
                </a:solidFill>
                <a:latin typeface="Prompt"/>
              </a:defRPr>
            </a:pPr>
            <a:r>
              <a:t>• ขาดกลไกวิเคราะห์ช่องว่างทักษะ (No Gap Analysis):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ระบบทั่วไปไม่ชี้เป้าอย่างเป็นรูปธรรมว่าผู้หางาน "ยังขาดทักษะจำเป็นด้านใดบ้าง" ทำให้วางแผนพัฒนาตนเองไม่ได้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1.2 PROPOSED SOLUTION FRAMEWORK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แนวคิดในการแก้ไขปัญหา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3 แนวทางดำเนินงานหลักด้วยการประมวลผลภาษาธรรมชาติและการเรียนรู้ของเครื่อง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3057753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แนวทางที่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550" b="1">
                <a:solidFill>
                  <a:srgbClr val="1E3A8A"/>
                </a:solidFill>
                <a:latin typeface="Prompt"/>
              </a:defRPr>
            </a:pPr>
            <a:r>
              <a:t>จำแนกสายงาน มคอ.2 ด้วย ML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นำรายการทักษะความเชี่ยวชาญของผู้เรียนมาสกัดคุณลักษณะด้วย TF-IDF และใช้แบบจำลอง Multi-Class Logistic Regression ทำนายกลุ่มสายงานอาชีพที่สอดคล้องตามกรอบหลักสูตร มคอ.2 ทั้ง 8 กลุ่มอาชีพ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สกัดคุณลักษณะทักษะด้วย TF-IDF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ทำนายสายงานด้วย Logistic Regression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ครอบคลุม 8 กลุ่มอาชีพ มคอ.2 ครบถ้วน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5073" y="1691640"/>
            <a:ext cx="3057753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แนวทางที่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550" b="1">
                <a:solidFill>
                  <a:srgbClr val="1E3A8A"/>
                </a:solidFill>
                <a:latin typeface="Prompt"/>
              </a:defRPr>
            </a:pPr>
            <a:r>
              <a:t>จับคู่ตำแหน่งงานด้วยทฤษฎีเซต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กรองตำแหน่งงานเฉพาะในกลุ่มอาชีพที่ทำนายได้ และเปรียบเทียบความตรงกันของทักษะระหว่างผู้เรียนกับประกาศรับสมัครงานจริงในตลาดแรงงาน เพื่อจัดอันดับ 5 ตำแหน่งงานที่เหมาะสมที่สุด (Top-5)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กรองเฉพาะสายงานที่ทำนายได้ ป้องกันงานข้ามสาย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เปรียบเทียบความตรงกันของทักษะด้วย Set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แนะนำตำแหน่งงานที่เหมาะสมที่สุด Top-5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187" y="1691640"/>
            <a:ext cx="3057753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แนวทางที่ 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550" b="1">
                <a:solidFill>
                  <a:srgbClr val="1E3A8A"/>
                </a:solidFill>
                <a:latin typeface="Prompt"/>
              </a:defRPr>
            </a:pPr>
            <a:r>
              <a:t>วิเคราะห์ช่องว่างทักษะ &amp; Readiness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เปรียบเทียบผลต่างของชุดทักษะ เพื่อชี้เป้าทักษะที่ผู้เรียนยังขาดอยู่ และประเมินระดับความพร้อมในสายอาชีพ (Career Readiness) สำหรับใช้เป็นแนวทางในการวางแผนพัฒนาตนเองอย่างตรงจุด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คำนวณผลต่างชุดทักษะ (Skill Gap)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แยกทักษะที่มีออกจากทักษะที่ยังขาด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• ประเมินระดับความพร้อม Career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1.3 PROJECT OBJECTIVES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วัตถุประสงค์ของโครงงาน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เป้าหมายหลัก 2 ประการในการวิจัยและพัฒนาระบบ (สอดรับตามเกณฑ์บทที่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563EB"/>
                </a:solidFill>
                <a:latin typeface="Prompt"/>
              </a:defRPr>
            </a:pPr>
            <a:r>
              <a:t>1. การพัฒนาระบบแนะนำงานและวิเคราะห์ทักษะ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เพื่อพัฒนาระบบแนะนำงานและวิเคราะห์ช่องว่างทักษะด้านเทคโนโลยีสารสนเทศด้วยการเรียนรู้ของเครื่อง (Machine Learning)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• สกัดคุณลักษณะทักษะผู้เรียนด้วย TF-IDF Feature Extraction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• ทำนายกลุ่มสายงานไอทีตามกรอบ มคอ.2 ทั้ง 8 กลุ่มอาชีพด้วยแบบจำลอง Multi-Class Logistic Regression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• กรองตำแหน่งงานและจัดอันดับด้วยทฤษฎีเซต พร้อมวิเคราะห์ผลต่างของชุดทักษะ (Skill Gap) และประเมิน Career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2. การประเมินประสิทธิภาพแบบจำลองและระบบ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เพื่อประเมินประสิทธิภาพความแม่นยำของแบบจำลองในการจำแนกกลุ่มอาชีพ และทดสอบประสิทธิภาพเวลาในการประมวลผลของระบบในการให้บริการจริง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2563EB"/>
                </a:solidFill>
                <a:latin typeface="Prompt"/>
              </a:defRPr>
            </a:pPr>
            <a:r>
              <a:t>• ประเมินความแม่นยำของโมเดล (Model Performance):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0F172A"/>
                </a:solidFill>
                <a:latin typeface="Prompt"/>
              </a:defRPr>
            </a:pPr>
            <a:r>
              <a:t>ทดสอบด้วย 5-Fold Stratified Cross-Validation วัดค่า Accuracy และ Macro F1-Score ครบทั้ง 8 กลุ่มอาชีพ มคอ.2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2563EB"/>
                </a:solidFill>
                <a:latin typeface="Prompt"/>
              </a:defRPr>
            </a:pPr>
            <a:r>
              <a:t>• ทดสอบเวลาในการประมวลผล (Processing Time / Latency):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Prompt"/>
              </a:defRPr>
            </a:pPr>
            <a:r>
              <a:t>วัดเวลาในการตอบสนองคำขอของระบบในการให้บริการจริง (Target Latency ต่ำกว่า 200 ms บนหน่วยความจำหลัก)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1.4.1 SYSTEM SCOPE: ROLES &amp; FUNCTIONS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ขอบเขตด้านหน้าที่การทำงานของระบบ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การแบ่งสิทธิ์และบทบาทการทำงานระหว่างผู้ดูแลระบบและผู้ใช้งานทั่วไป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1.4.1.1 บทบาทผู้ดูแลระบบ (Administrator)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1. การจัดการข้อมูลตำแหน่งงาน: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สามารถนำเข้า จัดเตรียม และจัดการข้อมูลประกาศรับสมัครงานเข้าสู่ระบบฐานข้อมูล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2. การฝึกสอนและประเมินโมเดล: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สามารถดำเนินการฝึกสอน (Train) และประเมินประสิทธิภาพของแบบจำลองการเรียนรู้ของเครื่องในระดับระบบ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• การบำรุงรักษาคลังคำศัพท์: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ตรวจสอบและปรับปรุงพจนานุกรมคำพ้อง (Canonical Map) เพื่อรองรับคำศัพท์เทคนิคใหม่ๆ ในตลาด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1.4.1.2 บทบาทผู้ใช้งานระบบ (User / Student)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1. การเลือกชุดทักษะความเชี่ยวชาญ: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สามารถค้นหาและเลือกทักษะความเชี่ยวชาญทางไอทีของตนเองผ่านระบบ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2. การดูผลการทำนายกลุ่มอาชีพ มคอ.2: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สามารถดูผลการทำนายกลุ่มอาชีพไอทีที่สอดคล้องตามกรอบ มคอ.2 ทั้ง 8 กลุ่มอาชีพ พร้อมระดับความพร้อม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3. การดูผลงานแนะนำและช่องว่างทักษะ: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สามารถดูผลการแนะนำตำแหน่งงานที่เหมาะสมที่สุด 5 อันดับแรก พร้อมรายงานสรุปทักษะที่ตรงกันและทักษะที่ยังขาดอยู่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1.4.1.3 DATA SCOPE &amp; TAXONOMY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ขอบเขตด้านข้อมูลและการรวบรวม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กรอบมาตรฐาน 8 กลุ่มอาชีพ มคอ.2 และชุดข้อมูลประกาศงานจริง 160 ตำแหน่ง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กรอบมาตรฐาน 8 กลุ่มอาชีพ มคอ.2 สาขาไอที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1. กลุ่มเจ้าหน้าที่เทคนิคและสนับสนุนคอมพิวเตอร์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2. กลุ่มผู้ดูแลระบบเครือข่ายและเครื่องแม่ข่าย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3. กลุ่มนักพัฒนาและออกแบบสื่อผสม (Multimedia / UI-UX)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4. กลุ่มผู้ประสานงานและจัดการโครงการสารสนเทศ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5. กลุ่มนักวิเคราะห์และออกแบบระบบสารสนเทศ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6. กลุ่มนักพัฒนาซอฟต์แวร์และแอปพลิเคชัน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7. กลุ่มนักพัฒนาและจัดการเว็บไซต์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8. กลุ่มผู้เชี่ยวชาญเฉพาะด้านเทคโนโลยีสารสนเทศ (Data /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ข้อมูลประกาศงานและพจนานุกรมคำพ้อง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1. ข้อมูลคำศัพท์ทักษะไอทีและพจนานุกรมคำพ้อง: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สำหรับใช้ในการประมวลผลและจัดการคำศัพท์คุณสมบัติทางไอที พร้อมระบบ Canonical Mapping รองรับคำย่อและคำพ้อง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2. ข้อมูลประกาศรับสมัครงานจริง 160 ตำแหน่งงาน: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รวบรวมจากเว็บไซต์รับสมัครงานชั้นนำในประเทศไทย จำนวน 160 ตำแหน่งงาน (กลุ่มอาชีพละ 20 ตำแหน่งงาน) ครอบคลุมครบ 8 กลุ่มอาชีพตามกรอบหลักสูตร มรภ.นครปฐม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• การควบคุมความสมดุล (Class Balance):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ควบคุมสัดส่วนให้สมดุลเป๊ะกลุ่มละ 20 งาน ป้องกันปัญหาโมเดลเอนเอียง (Bias) ไปยังกลุ่มอาชีพที่มีประกาศงานมากเกินไป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1.4.2 &amp; 1.4.3 ENVIRONMENT SCOPE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ขอบเขตสภาพแวดล้อมฮาร์ดแวร์และซอฟต์แวร์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โครงสร้างพื้นฐานและเครื่องมือที่ใช้ในการวิจัยและพัฒนาระบบ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1.4.2 ฮาร์ดแวร์ที่ใช้ในการพัฒนา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1. หน่วยประมวลผลกลาง (CPU):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Intel Core i5-10300H CPU ความเร็ว 2.50 GHz (4 Cores / 8 Threads) สำหรับประมวลผลข้อมูลและฝึกสอนแบบจำลอง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2. หน่วยความจำหลัก (RAM):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ขนาด 16.0 GB สำหรับแคชโมเดลและข้อมูลงานบน Memory เพื่อตอบสนองคำขอแบบ Real-time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3. หน่วยจัดเก็บข้อมูล (Storage):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Solid State Drive (SSD) ขนาดความจุ 512 GB เพื่อความรวดเร็วในการอ่านและเขียนข้อมูล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1.4.3 ซอฟต์แวร์ที่ใช้ในการพัฒนา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1. ระบบปฏิบัติการและสภาพแวดล้อม: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Microsoft Windows 10 ร่วมกับ Visual Studio Code สำหรับพัฒนาโปรแกรมและจัดการเวอร์ชันโค้ด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2. ฝั่งเซิร์ฟเวอร์และแบบจำลอง (Backend &amp; ML Engine):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ภาษา Python ร่วมกับ FastAPI, Scikit-learn, Pandas และ NumPy สำหรับสร้าง REST API และคำนวณโมเดล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563EB"/>
                </a:solidFill>
                <a:latin typeface="Prompt"/>
              </a:defRPr>
            </a:pPr>
            <a:r>
              <a:t>3. ส่วนต่อประสานผู้ใช้งาน (Frontend Layer):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Prompt"/>
              </a:defRPr>
            </a:pPr>
            <a:r>
              <a:t>ภาษา HTML5, JavaScript (ES6+), Vanilla CSS ร่วมกับ Tailwind CSS (CDN), SweetAlert2 และ Font Awesome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1.5 PROJECT TIMELINE (CRISP-DM)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กรอบระยะเวลาและขั้นตอนการดำเนินงาน (16 สัปดาห์)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การดำเนินงานวิจัยและพัฒนาระบบตามลำดับขั้นตอน CRISP-DM ทั้ง 6 ขั้นตอน ดังตารางที่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2563EB"/>
                </a:solidFill>
                <a:latin typeface="Prompt"/>
              </a:defRPr>
            </a:pPr>
            <a:r>
              <a:t>ขั้นตอนที่ 1: การศึกษาบริบทและกำหนดเป้าหมาย (สัปดาห์ 1 - 2)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ศึกษาปัญหา Skill Mismatch ทำความเข้าใจกรอบมาตรฐาน มคอ.2 ทั้ง 8 กลุ่มอาชีพ และกำหนดขอบเขตระบบ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2563EB"/>
                </a:solidFill>
                <a:latin typeface="Prompt"/>
              </a:defRPr>
            </a:pPr>
            <a:r>
              <a:t>ขั้นตอนที่ 2: การทำความเข้าใจและสำรวจข้อมูล (สัปดาห์ 3 - 5)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รวบรวมประกาศงานไอทีจริง 160 งาน (กลุ่มละ 20 งานเป๊ะ) สำรวจรูปแบบข้อความกึ่งโครงสร้างและทักษะจำเป็น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2563EB"/>
                </a:solidFill>
                <a:latin typeface="Prompt"/>
              </a:defRPr>
            </a:pPr>
            <a:r>
              <a:t>ขั้นตอนที่ 3: การเตรียมข้อมูลและจัดระเบียบคำศัพท์ (สัปดาห์ 6 - 8)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ทำความสะอาดข้อมูล จัดทำพจนานุกรมคำพ้อง (Canonical Map) สกัดทักษะเฉพาะทาง และแปลงเวกเตอร์ TF-IDF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1E3A8A"/>
                </a:solidFill>
                <a:latin typeface="Prompt"/>
              </a:defRPr>
            </a:pPr>
            <a:r>
              <a:t>ขั้นตอนที่ 4: การสร้างและฝึกสอนแบบจำลอง (สัปดาห์ 9 - 11)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ฝึกสอน Multi-Class Logistic Regression จำแนก 8 กลุ่มอาชีพ พัฒนากลไกจัดอันดับ Top-5 และสกัด Skill Gap ด้วยเซต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1E3A8A"/>
                </a:solidFill>
                <a:latin typeface="Prompt"/>
              </a:defRPr>
            </a:pPr>
            <a:r>
              <a:t>ขั้นตอนที่ 5: การประเมินประสิทธิภาพแบบจำลองและระบบ (สัปดาห์ 12 - 14)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ทดสอบความแม่นยำด้วย 5-Fold Stratified Cross-Validation (Accuracy, Macro F1) และทดสอบเวลาตอบสนอง API (Latency)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1E3A8A"/>
                </a:solidFill>
                <a:latin typeface="Prompt"/>
              </a:defRPr>
            </a:pPr>
            <a:r>
              <a:t>ขั้นตอนที่ 6: การพัฒนาและติดตั้งระบบเพื่อใช้งานจริง (สัปดาห์ 15 - 16)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F172A"/>
                </a:solidFill>
                <a:latin typeface="Prompt"/>
              </a:defRPr>
            </a:pPr>
            <a:r>
              <a:t>เชื่อมต่อส่วนต่อประสานผู้ใช้งาน SPA เข้ากับ FastAPI Engine ทดสอบระบบแบบบูรณาการ และจัดทำเล่มรายงานสมบูรณ์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Prompt"/>
              </a:defRPr>
            </a:pPr>
            <a:r>
              <a:t>1.6 EXPECTED BENEFITS</a:t>
            </a:r>
          </a:p>
          <a:p>
            <a:pPr>
              <a:spcAft>
                <a:spcPts val="400"/>
              </a:spcAft>
              <a:defRPr sz="2300" b="1">
                <a:solidFill>
                  <a:srgbClr val="1E3A8A"/>
                </a:solidFill>
                <a:latin typeface="Prompt"/>
              </a:defRPr>
            </a:pPr>
            <a:r>
              <a:t>ประโยชน์ที่คาดว่าจะได้รับจากโครงงาน</a:t>
            </a:r>
          </a:p>
          <a:p>
            <a:pPr>
              <a:defRPr sz="1300">
                <a:solidFill>
                  <a:srgbClr val="64748B"/>
                </a:solidFill>
                <a:latin typeface="Prompt"/>
              </a:defRPr>
            </a:pPr>
            <a:r>
              <a:t>คุณค่าและการนำผลลัพธ์ของโครงงานไปประยุกต์ใช้งานจริง สอดรับกับวัตถุประสงค์ 1:1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054577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691640"/>
            <a:ext cx="13716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563EB"/>
                </a:solidFill>
                <a:latin typeface="Prompt"/>
              </a:defRPr>
            </a:pPr>
            <a:r>
              <a:t>1.6.1 ด้านระบบและแบบจำลองการเรียนรู้ของเครื่อง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ได้ระบบแนะนำงานและวิเคราะห์ช่องว่างทักษะด้านเทคโนโลยีสารสนเทศด้วยการเรียนรู้ของเครื่อง และสามารถจำแนกกลุ่มอาชีพไอทีตามมาตรฐานหลักสูตรได้อย่างถูกต้องและแม่นยำ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2563EB"/>
                </a:solidFill>
                <a:latin typeface="Prompt"/>
              </a:defRPr>
            </a:pPr>
            <a:r>
              <a:t>• ระบบสกัดคุณลักษณะทักษะไอที (TF-IDF):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0F172A"/>
                </a:solidFill>
                <a:latin typeface="Prompt"/>
              </a:defRPr>
            </a:pPr>
            <a:r>
              <a:t>แปลงข้อมูลรายการทักษะทางเทคนิคให้อยู่ในรูปเวกเตอร์ตัวเลขได้อย่างมีประสิทธิภาพ พร้อมระบบจัดการคำพ้อง (Canonical Map)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2563EB"/>
                </a:solidFill>
                <a:latin typeface="Prompt"/>
              </a:defRPr>
            </a:pPr>
            <a:r>
              <a:t>• ต้นแบบโมเดลจำแนกกลุ่มอาชีพ มคอ.2 ทั้ง 8 ด้าน: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Prompt"/>
              </a:defRPr>
            </a:pPr>
            <a:r>
              <a:t>โมเดล Multi-Class Logistic Regression ที่มีความโปร่งใส ตรวจสอบความน่าจะเป็นได้ ป้องกันการจำข้อสอบด้วย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710" y="1691640"/>
            <a:ext cx="499811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1E3A8A"/>
                </a:solidFill>
                <a:latin typeface="Prompt"/>
              </a:defRPr>
            </a:pPr>
            <a:r>
              <a:t>1.6.2 ด้านระบบช่วยตัดสินใจและการวางแผนพัฒนาตนเอง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defRPr sz="1400" b="1">
                <a:solidFill>
                  <a:srgbClr val="1E3A8A"/>
                </a:solidFill>
                <a:latin typeface="Prompt"/>
              </a:defRPr>
            </a:pPr>
            <a:r>
              <a:t>ได้ระบบช่วยตัดสินใจแนะนำตำแหน่งงานและวิเคราะห์ช่องว่างทักษะที่โปร่งใส ตรวจสอบได้ เพื่อช่วยให้นักศึกษาและผู้หางานสามารถวางแผนพัฒนาตนเองได้อย่างมีทิศทางและสอดคล้องกับความต้องการของตลาดแรงงานไอทีอย่างแท้จริ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1E3A8A"/>
                </a:solidFill>
                <a:latin typeface="Prompt"/>
              </a:defRPr>
            </a:pPr>
            <a:r>
              <a:t>• การแนะนำงาน Top-5 ที่ตรงบริบทจริง: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0F172A"/>
                </a:solidFill>
                <a:latin typeface="Prompt"/>
              </a:defRPr>
            </a:pPr>
            <a:r>
              <a:t>คัดกรองตำแหน่งงานเฉพาะในกลุ่มอาชีพที่สอดคล้อง พร้อมคำนวณ Match Rate สะท้อนความตรงกันของทักษะจริง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1E3A8A"/>
                </a:solidFill>
                <a:latin typeface="Prompt"/>
              </a:defRPr>
            </a:pPr>
            <a:r>
              <a:t>• ชี้เป้าช่องว่างทักษะ (Skill Gap) และประเมินความพร้อม: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Prompt"/>
              </a:defRPr>
            </a:pPr>
            <a:r>
              <a:t>แยก "ทักษะที่มี" และ "ทักษะที่ยังขาด" อย่างชัดเจน พร้อมระดับ Career Readiness ช่วยให้วางแผน Upskill ได้ตรงจุด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defRPr sz="4400" b="1">
                <a:solidFill>
                  <a:srgbClr val="1E3A8A"/>
                </a:solidFill>
                <a:latin typeface="Prompt"/>
              </a:defRPr>
            </a:pPr>
            <a:r>
              <a:t>ขอบคุณครับ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400"/>
              </a:spcAft>
              <a:defRPr sz="1800" b="1">
                <a:solidFill>
                  <a:srgbClr val="2563EB"/>
                </a:solidFill>
                <a:latin typeface="Prompt"/>
              </a:defRPr>
            </a:pPr>
            <a:r>
              <a:t>ยินดีรับฟังทุกข้อคิดเห็นและข้อเสนอแนะ เพื่อนำไปพัฒนาโครงงานให้สมบูรณ์ยิ่งขึ้นครับ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1E3A8A"/>
                </a:solidFill>
                <a:latin typeface="Prompt"/>
              </a:defRPr>
            </a:pPr>
            <a:r>
              <a:t>อาจารย์ที่ปรึกษาโครงงาน: อาจารย์แก้วใจ อาภรณ์พิศาล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 sz="1350" b="1">
                <a:solidFill>
                  <a:srgbClr val="0F172A"/>
                </a:solidFill>
                <a:latin typeface="Prompt"/>
              </a:defRPr>
            </a:pPr>
            <a:r>
              <a:t>คณะผู้จัดทำ: นายธีรภัทธิ์ แก้วการไร่ (674230004)   |   นายปรเมศ ไม้ประเสริฐ (674230020)   |   หมู่เรียน 67/43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4748B"/>
                </a:solidFill>
                <a:latin typeface="Prompt"/>
              </a:defRPr>
            </a:pPr>
            <a:r>
              <a:t>สาขาวิชาเทคโนโลยีสารสนเทศ คณะวิทยาศาสตร์และเทคโนโลยี มหาวิทยาลัยราชภัฏนครปฐม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